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4" r:id="rId1"/>
  </p:sldMasterIdLst>
  <p:sldIdLst>
    <p:sldId id="256" r:id="rId2"/>
    <p:sldId id="265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D6CCD0-CDB4-46E7-8A56-65DF404442E9}" v="120" dt="2026-04-20T11:51:25.7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4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gdalena Persson" userId="fb10def495936804" providerId="LiveId" clId="{05A5A335-7EB3-4386-B0CF-1230997220B4}"/>
    <pc:docChg chg="undo custSel modSld">
      <pc:chgData name="Magdalena Persson" userId="fb10def495936804" providerId="LiveId" clId="{05A5A335-7EB3-4386-B0CF-1230997220B4}" dt="2026-04-20T11:52:04.231" v="1666"/>
      <pc:docMkLst>
        <pc:docMk/>
      </pc:docMkLst>
      <pc:sldChg chg="addAnim delAnim modAnim">
        <pc:chgData name="Magdalena Persson" userId="fb10def495936804" providerId="LiveId" clId="{05A5A335-7EB3-4386-B0CF-1230997220B4}" dt="2026-04-20T11:49:25.225" v="1641"/>
        <pc:sldMkLst>
          <pc:docMk/>
          <pc:sldMk cId="3047071750" sldId="256"/>
        </pc:sldMkLst>
      </pc:sldChg>
      <pc:sldChg chg="addAnim delAnim modAnim">
        <pc:chgData name="Magdalena Persson" userId="fb10def495936804" providerId="LiveId" clId="{05A5A335-7EB3-4386-B0CF-1230997220B4}" dt="2026-04-20T11:50:05.274" v="1645"/>
        <pc:sldMkLst>
          <pc:docMk/>
          <pc:sldMk cId="1385596692" sldId="258"/>
        </pc:sldMkLst>
      </pc:sldChg>
      <pc:sldChg chg="addSp delSp modSp mod addAnim delAnim modAnim">
        <pc:chgData name="Magdalena Persson" userId="fb10def495936804" providerId="LiveId" clId="{05A5A335-7EB3-4386-B0CF-1230997220B4}" dt="2026-04-20T11:52:04.231" v="1666"/>
        <pc:sldMkLst>
          <pc:docMk/>
          <pc:sldMk cId="2375618147" sldId="259"/>
        </pc:sldMkLst>
        <pc:spChg chg="mod">
          <ac:chgData name="Magdalena Persson" userId="fb10def495936804" providerId="LiveId" clId="{05A5A335-7EB3-4386-B0CF-1230997220B4}" dt="2026-04-20T10:13:47.763" v="546" actId="1076"/>
          <ac:spMkLst>
            <pc:docMk/>
            <pc:sldMk cId="2375618147" sldId="259"/>
            <ac:spMk id="3" creationId="{2849A7F5-11C3-E170-ADD5-357432C82943}"/>
          </ac:spMkLst>
        </pc:spChg>
        <pc:spChg chg="add mod">
          <ac:chgData name="Magdalena Persson" userId="fb10def495936804" providerId="LiveId" clId="{05A5A335-7EB3-4386-B0CF-1230997220B4}" dt="2026-04-20T10:14:09.428" v="550" actId="1076"/>
          <ac:spMkLst>
            <pc:docMk/>
            <pc:sldMk cId="2375618147" sldId="259"/>
            <ac:spMk id="8" creationId="{28BC1568-1644-2380-682F-8CDFEC113E73}"/>
          </ac:spMkLst>
        </pc:spChg>
        <pc:picChg chg="add del mod">
          <ac:chgData name="Magdalena Persson" userId="fb10def495936804" providerId="LiveId" clId="{05A5A335-7EB3-4386-B0CF-1230997220B4}" dt="2026-04-20T10:05:25.984" v="261" actId="478"/>
          <ac:picMkLst>
            <pc:docMk/>
            <pc:sldMk cId="2375618147" sldId="259"/>
            <ac:picMk id="5" creationId="{57F3D1CF-476E-EA62-D92A-1091F5EB42C8}"/>
          </ac:picMkLst>
        </pc:picChg>
        <pc:picChg chg="add mod">
          <ac:chgData name="Magdalena Persson" userId="fb10def495936804" providerId="LiveId" clId="{05A5A335-7EB3-4386-B0CF-1230997220B4}" dt="2026-04-20T10:14:12.422" v="551" actId="1076"/>
          <ac:picMkLst>
            <pc:docMk/>
            <pc:sldMk cId="2375618147" sldId="259"/>
            <ac:picMk id="7" creationId="{1885C7BC-FB9A-B480-F8DF-F532839F2412}"/>
          </ac:picMkLst>
        </pc:picChg>
      </pc:sldChg>
      <pc:sldChg chg="addSp delSp modSp mod addAnim delAnim modAnim">
        <pc:chgData name="Magdalena Persson" userId="fb10def495936804" providerId="LiveId" clId="{05A5A335-7EB3-4386-B0CF-1230997220B4}" dt="2026-04-20T11:50:50.338" v="1654"/>
        <pc:sldMkLst>
          <pc:docMk/>
          <pc:sldMk cId="4049912175" sldId="260"/>
        </pc:sldMkLst>
        <pc:spChg chg="mod">
          <ac:chgData name="Magdalena Persson" userId="fb10def495936804" providerId="LiveId" clId="{05A5A335-7EB3-4386-B0CF-1230997220B4}" dt="2026-04-20T11:00:45.287" v="628" actId="14100"/>
          <ac:spMkLst>
            <pc:docMk/>
            <pc:sldMk cId="4049912175" sldId="260"/>
            <ac:spMk id="2" creationId="{860F5806-1A15-887D-A9CA-0EB94BB07B82}"/>
          </ac:spMkLst>
        </pc:spChg>
        <pc:spChg chg="mod">
          <ac:chgData name="Magdalena Persson" userId="fb10def495936804" providerId="LiveId" clId="{05A5A335-7EB3-4386-B0CF-1230997220B4}" dt="2026-04-20T11:01:18.457" v="630" actId="255"/>
          <ac:spMkLst>
            <pc:docMk/>
            <pc:sldMk cId="4049912175" sldId="260"/>
            <ac:spMk id="3" creationId="{F25AE523-CA03-CB6C-F795-6EEDA037F468}"/>
          </ac:spMkLst>
        </pc:spChg>
        <pc:spChg chg="add del mod">
          <ac:chgData name="Magdalena Persson" userId="fb10def495936804" providerId="LiveId" clId="{05A5A335-7EB3-4386-B0CF-1230997220B4}" dt="2026-04-20T10:59:22.624" v="574" actId="478"/>
          <ac:spMkLst>
            <pc:docMk/>
            <pc:sldMk cId="4049912175" sldId="260"/>
            <ac:spMk id="9" creationId="{35E4B775-1411-FA07-2440-A3BAFC8F8DE1}"/>
          </ac:spMkLst>
        </pc:spChg>
        <pc:spChg chg="add mod">
          <ac:chgData name="Magdalena Persson" userId="fb10def495936804" providerId="LiveId" clId="{05A5A335-7EB3-4386-B0CF-1230997220B4}" dt="2026-04-20T11:02:32.548" v="655" actId="1076"/>
          <ac:spMkLst>
            <pc:docMk/>
            <pc:sldMk cId="4049912175" sldId="260"/>
            <ac:spMk id="10" creationId="{E4B3A3A5-7C32-057D-376E-CA19B4E9FF41}"/>
          </ac:spMkLst>
        </pc:spChg>
        <pc:spChg chg="add mod">
          <ac:chgData name="Magdalena Persson" userId="fb10def495936804" providerId="LiveId" clId="{05A5A335-7EB3-4386-B0CF-1230997220B4}" dt="2026-04-20T11:03:11.572" v="660" actId="1076"/>
          <ac:spMkLst>
            <pc:docMk/>
            <pc:sldMk cId="4049912175" sldId="260"/>
            <ac:spMk id="11" creationId="{E42C397F-47A3-1DF4-E11B-87292E4D1A3D}"/>
          </ac:spMkLst>
        </pc:spChg>
        <pc:picChg chg="add mod">
          <ac:chgData name="Magdalena Persson" userId="fb10def495936804" providerId="LiveId" clId="{05A5A335-7EB3-4386-B0CF-1230997220B4}" dt="2026-04-20T10:58:53.804" v="568" actId="14100"/>
          <ac:picMkLst>
            <pc:docMk/>
            <pc:sldMk cId="4049912175" sldId="260"/>
            <ac:picMk id="5" creationId="{AA563198-EAD0-84C6-825B-2F6CFDB563B4}"/>
          </ac:picMkLst>
        </pc:picChg>
        <pc:picChg chg="add mod">
          <ac:chgData name="Magdalena Persson" userId="fb10def495936804" providerId="LiveId" clId="{05A5A335-7EB3-4386-B0CF-1230997220B4}" dt="2026-04-20T10:58:50.882" v="567" actId="14100"/>
          <ac:picMkLst>
            <pc:docMk/>
            <pc:sldMk cId="4049912175" sldId="260"/>
            <ac:picMk id="7" creationId="{344E4528-47DD-4EBC-386F-324A7E308753}"/>
          </ac:picMkLst>
        </pc:picChg>
      </pc:sldChg>
      <pc:sldChg chg="addSp modSp mod modAnim">
        <pc:chgData name="Magdalena Persson" userId="fb10def495936804" providerId="LiveId" clId="{05A5A335-7EB3-4386-B0CF-1230997220B4}" dt="2026-04-20T11:51:01.855" v="1657"/>
        <pc:sldMkLst>
          <pc:docMk/>
          <pc:sldMk cId="727672434" sldId="261"/>
        </pc:sldMkLst>
        <pc:spChg chg="mod">
          <ac:chgData name="Magdalena Persson" userId="fb10def495936804" providerId="LiveId" clId="{05A5A335-7EB3-4386-B0CF-1230997220B4}" dt="2026-04-20T11:04:18.214" v="668" actId="14100"/>
          <ac:spMkLst>
            <pc:docMk/>
            <pc:sldMk cId="727672434" sldId="261"/>
            <ac:spMk id="2" creationId="{32C5F45B-E153-7C87-0F5A-B96B32AC80C8}"/>
          </ac:spMkLst>
        </pc:spChg>
        <pc:spChg chg="mod">
          <ac:chgData name="Magdalena Persson" userId="fb10def495936804" providerId="LiveId" clId="{05A5A335-7EB3-4386-B0CF-1230997220B4}" dt="2026-04-20T11:06:17.058" v="696" actId="20577"/>
          <ac:spMkLst>
            <pc:docMk/>
            <pc:sldMk cId="727672434" sldId="261"/>
            <ac:spMk id="3" creationId="{28281660-44E1-8812-A4EE-B6ADCC09FB05}"/>
          </ac:spMkLst>
        </pc:spChg>
        <pc:picChg chg="add mod">
          <ac:chgData name="Magdalena Persson" userId="fb10def495936804" providerId="LiveId" clId="{05A5A335-7EB3-4386-B0CF-1230997220B4}" dt="2026-04-20T11:05:16.557" v="680" actId="1076"/>
          <ac:picMkLst>
            <pc:docMk/>
            <pc:sldMk cId="727672434" sldId="261"/>
            <ac:picMk id="5" creationId="{52D63A68-B4D7-DC82-5F78-9B30C91AC04C}"/>
          </ac:picMkLst>
        </pc:picChg>
      </pc:sldChg>
      <pc:sldChg chg="modSp mod addAnim delAnim modAnim">
        <pc:chgData name="Magdalena Persson" userId="fb10def495936804" providerId="LiveId" clId="{05A5A335-7EB3-4386-B0CF-1230997220B4}" dt="2026-04-20T11:51:11.761" v="1659"/>
        <pc:sldMkLst>
          <pc:docMk/>
          <pc:sldMk cId="1889138034" sldId="262"/>
        </pc:sldMkLst>
        <pc:spChg chg="mod">
          <ac:chgData name="Magdalena Persson" userId="fb10def495936804" providerId="LiveId" clId="{05A5A335-7EB3-4386-B0CF-1230997220B4}" dt="2026-04-20T11:11:24.678" v="1191" actId="14100"/>
          <ac:spMkLst>
            <pc:docMk/>
            <pc:sldMk cId="1889138034" sldId="262"/>
            <ac:spMk id="3" creationId="{5C219563-ECA0-FC19-1F47-8EDB9F66B23A}"/>
          </ac:spMkLst>
        </pc:spChg>
      </pc:sldChg>
      <pc:sldChg chg="addSp modSp mod addAnim delAnim modAnim">
        <pc:chgData name="Magdalena Persson" userId="fb10def495936804" providerId="LiveId" clId="{05A5A335-7EB3-4386-B0CF-1230997220B4}" dt="2026-04-20T11:51:30.482" v="1663"/>
        <pc:sldMkLst>
          <pc:docMk/>
          <pc:sldMk cId="1541878856" sldId="263"/>
        </pc:sldMkLst>
        <pc:spChg chg="mod">
          <ac:chgData name="Magdalena Persson" userId="fb10def495936804" providerId="LiveId" clId="{05A5A335-7EB3-4386-B0CF-1230997220B4}" dt="2026-04-20T11:31:32.103" v="1444" actId="1076"/>
          <ac:spMkLst>
            <pc:docMk/>
            <pc:sldMk cId="1541878856" sldId="263"/>
            <ac:spMk id="2" creationId="{D0AFCC24-1BFD-E368-B964-39B6F368F4B6}"/>
          </ac:spMkLst>
        </pc:spChg>
        <pc:spChg chg="mod">
          <ac:chgData name="Magdalena Persson" userId="fb10def495936804" providerId="LiveId" clId="{05A5A335-7EB3-4386-B0CF-1230997220B4}" dt="2026-04-20T11:36:49.249" v="1605" actId="108"/>
          <ac:spMkLst>
            <pc:docMk/>
            <pc:sldMk cId="1541878856" sldId="263"/>
            <ac:spMk id="3" creationId="{6AF225DC-0BFB-D0D6-F203-01349517330F}"/>
          </ac:spMkLst>
        </pc:spChg>
        <pc:spChg chg="add mod">
          <ac:chgData name="Magdalena Persson" userId="fb10def495936804" providerId="LiveId" clId="{05A5A335-7EB3-4386-B0CF-1230997220B4}" dt="2026-04-20T11:32:18.700" v="1461" actId="1076"/>
          <ac:spMkLst>
            <pc:docMk/>
            <pc:sldMk cId="1541878856" sldId="263"/>
            <ac:spMk id="4" creationId="{93C2D251-DC67-053E-B953-AD04B1DECB4B}"/>
          </ac:spMkLst>
        </pc:spChg>
        <pc:spChg chg="add mod">
          <ac:chgData name="Magdalena Persson" userId="fb10def495936804" providerId="LiveId" clId="{05A5A335-7EB3-4386-B0CF-1230997220B4}" dt="2026-04-20T11:38:38.775" v="1617" actId="1076"/>
          <ac:spMkLst>
            <pc:docMk/>
            <pc:sldMk cId="1541878856" sldId="263"/>
            <ac:spMk id="5" creationId="{681EA567-C2B9-8483-697A-EB9DD1CA40A3}"/>
          </ac:spMkLst>
        </pc:spChg>
      </pc:sldChg>
      <pc:sldChg chg="addAnim delAnim modAnim">
        <pc:chgData name="Magdalena Persson" userId="fb10def495936804" providerId="LiveId" clId="{05A5A335-7EB3-4386-B0CF-1230997220B4}" dt="2026-04-20T11:49:54.354" v="1643"/>
        <pc:sldMkLst>
          <pc:docMk/>
          <pc:sldMk cId="28794371" sldId="26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/>
              <a:t>Klicka här för att ändra mall för underrubrikformat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90502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4198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2402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76843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90419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83772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50835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31152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sv-SE"/>
              <a:t>Klicka på ikonen för att lägga till en bild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34770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och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56366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med beskriv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2531269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nk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sv-SE"/>
              <a:t>Klicka här för att ändra format på bakgrundstexten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65013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nkort för c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sv-SE"/>
              <a:t>Klicka här för att ändra format på bakgrundstexten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652240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nt eller fals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sv-SE"/>
              <a:t>Klicka här för att ändra format på bakgrundstexten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87162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75322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886129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sv-SE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sv-SE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sv-SE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sv-SE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sv-SE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sv-SE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sv-SE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sv-SE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sv-SE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sv-SE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sv-SE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sv-SE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30"/>
            <a:ext cx="2356674" cy="6853283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11" name="Freeform 27"/>
            <p:cNvSpPr/>
            <p:nvPr/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sv-SE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sv-SE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sv-SE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sv-SE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sv-SE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sv-SE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sv-SE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sv-SE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sv-SE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sv-SE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sv-SE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sv-SE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v-SE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F45AC6-C491-4585-A584-9CE2AF7D5500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3035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5" r:id="rId1"/>
    <p:sldLayoutId id="2147483826" r:id="rId2"/>
    <p:sldLayoutId id="2147483827" r:id="rId3"/>
    <p:sldLayoutId id="2147483828" r:id="rId4"/>
    <p:sldLayoutId id="2147483829" r:id="rId5"/>
    <p:sldLayoutId id="2147483830" r:id="rId6"/>
    <p:sldLayoutId id="2147483831" r:id="rId7"/>
    <p:sldLayoutId id="2147483832" r:id="rId8"/>
    <p:sldLayoutId id="2147483833" r:id="rId9"/>
    <p:sldLayoutId id="2147483834" r:id="rId10"/>
    <p:sldLayoutId id="2147483835" r:id="rId11"/>
    <p:sldLayoutId id="2147483836" r:id="rId12"/>
    <p:sldLayoutId id="2147483837" r:id="rId13"/>
    <p:sldLayoutId id="2147483838" r:id="rId14"/>
    <p:sldLayoutId id="2147483839" r:id="rId15"/>
    <p:sldLayoutId id="2147483840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3">
            <a:extLst>
              <a:ext uri="{FF2B5EF4-FFF2-40B4-BE49-F238E27FC236}">
                <a16:creationId xmlns:a16="http://schemas.microsoft.com/office/drawing/2014/main" id="{0F9CC6F9-15AA-B170-9D60-F9DC568E4D4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40000"/>
          </a:blip>
          <a:srcRect t="9315" b="641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Rubrik 1">
            <a:extLst>
              <a:ext uri="{FF2B5EF4-FFF2-40B4-BE49-F238E27FC236}">
                <a16:creationId xmlns:a16="http://schemas.microsoft.com/office/drawing/2014/main" id="{41BD308F-2713-D96C-899E-CE0F31DB04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0899" y="1166219"/>
            <a:ext cx="8915399" cy="2262781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sv-SE" sz="5000" dirty="0"/>
              <a:t>Case: </a:t>
            </a:r>
            <a:br>
              <a:rPr lang="sv-SE" sz="5000" dirty="0"/>
            </a:br>
            <a:r>
              <a:rPr lang="sv-SE" sz="4000" dirty="0"/>
              <a:t>Analysteam, E-handelsföretag</a:t>
            </a:r>
            <a:br>
              <a:rPr lang="sv-SE" sz="5000" dirty="0"/>
            </a:br>
            <a:br>
              <a:rPr lang="sv-SE" sz="5000" dirty="0"/>
            </a:br>
            <a:endParaRPr lang="sv-SE" sz="5000" dirty="0"/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88371B25-9965-9029-CF52-8E05A60A8A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89956" y="2919558"/>
            <a:ext cx="8013474" cy="2142299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sv-SE" dirty="0"/>
              <a:t>Undersöka försäljning, kundbeteende och effekten av rabatter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sv-SE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sv-SE" dirty="0"/>
              <a:t>Identifiera mönster som kan användas som beslutsunderlag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sv-SE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sv-SE" dirty="0"/>
              <a:t>Analys görs i R med hjälp av </a:t>
            </a:r>
            <a:r>
              <a:rPr lang="sv-SE" dirty="0" err="1"/>
              <a:t>tidyverse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047071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CC88C4-62AE-9C70-3CF6-C6A97DA00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3">
            <a:extLst>
              <a:ext uri="{FF2B5EF4-FFF2-40B4-BE49-F238E27FC236}">
                <a16:creationId xmlns:a16="http://schemas.microsoft.com/office/drawing/2014/main" id="{8DF81BBC-201A-5D5B-1414-77EC4FBFCAF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40000"/>
          </a:blip>
          <a:srcRect t="9315" b="641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Rubrik 1">
            <a:extLst>
              <a:ext uri="{FF2B5EF4-FFF2-40B4-BE49-F238E27FC236}">
                <a16:creationId xmlns:a16="http://schemas.microsoft.com/office/drawing/2014/main" id="{E162B94D-60FB-CD02-9F75-6B4ABDB75A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8242" y="1026892"/>
            <a:ext cx="8915399" cy="2262781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sv-SE" sz="5000" dirty="0"/>
              <a:t>Datasetet: </a:t>
            </a:r>
            <a:br>
              <a:rPr lang="sv-SE" sz="5000" dirty="0"/>
            </a:br>
            <a:r>
              <a:rPr lang="sv-SE" sz="4000" dirty="0" err="1"/>
              <a:t>ecommerce_orders</a:t>
            </a:r>
            <a:br>
              <a:rPr lang="sv-SE" sz="5000" dirty="0"/>
            </a:br>
            <a:br>
              <a:rPr lang="sv-SE" sz="5000" dirty="0"/>
            </a:br>
            <a:endParaRPr lang="sv-SE" sz="5000" dirty="0"/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927F0A30-C9B7-1CF5-C2D8-3F279B372F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69873" y="2799077"/>
            <a:ext cx="9762898" cy="2754086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sv-SE" dirty="0"/>
              <a:t>1000 observationer (en rad = en order)</a:t>
            </a:r>
          </a:p>
          <a:p>
            <a:endParaRPr lang="sv-SE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sv-SE" dirty="0"/>
              <a:t>16 variabler varav 11 kategoriska, 4 numeriska &amp; 1 datumvariabel</a:t>
            </a:r>
          </a:p>
          <a:p>
            <a:endParaRPr lang="sv-SE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sv-SE" dirty="0"/>
              <a:t>Saknade värden i </a:t>
            </a:r>
            <a:r>
              <a:rPr lang="sv-SE" sz="1600" i="1" dirty="0"/>
              <a:t>city, </a:t>
            </a:r>
            <a:r>
              <a:rPr lang="sv-SE" sz="1600" i="1" dirty="0" err="1"/>
              <a:t>payment_method</a:t>
            </a:r>
            <a:r>
              <a:rPr lang="sv-SE" sz="1600" i="1" dirty="0"/>
              <a:t>, </a:t>
            </a:r>
            <a:r>
              <a:rPr lang="sv-SE" sz="1600" i="1" dirty="0" err="1"/>
              <a:t>campaign_source</a:t>
            </a:r>
            <a:r>
              <a:rPr lang="sv-SE" sz="1600" i="1" dirty="0"/>
              <a:t>, </a:t>
            </a:r>
            <a:r>
              <a:rPr lang="sv-SE" sz="1600" i="1" dirty="0" err="1"/>
              <a:t>discount_pct</a:t>
            </a:r>
            <a:r>
              <a:rPr lang="sv-SE" sz="1600" i="1" dirty="0"/>
              <a:t>, </a:t>
            </a:r>
            <a:r>
              <a:rPr lang="sv-SE" sz="1600" i="1" dirty="0" err="1"/>
              <a:t>shipping_days</a:t>
            </a:r>
            <a:endParaRPr lang="sv-SE" sz="1600" i="1" dirty="0"/>
          </a:p>
          <a:p>
            <a:endParaRPr lang="sv-SE" sz="1600" i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sv-SE" dirty="0"/>
              <a:t>Inkonsekventa kategorivärden</a:t>
            </a:r>
          </a:p>
        </p:txBody>
      </p:sp>
    </p:spTree>
    <p:extLst>
      <p:ext uri="{BB962C8B-B14F-4D97-AF65-F5344CB8AC3E}">
        <p14:creationId xmlns:p14="http://schemas.microsoft.com/office/powerpoint/2010/main" val="28794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4FD187-6995-4CD9-5BC5-A7F536645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3">
            <a:extLst>
              <a:ext uri="{FF2B5EF4-FFF2-40B4-BE49-F238E27FC236}">
                <a16:creationId xmlns:a16="http://schemas.microsoft.com/office/drawing/2014/main" id="{A4A8E8A8-B2DE-D9EE-E35E-F10F92F3338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40000"/>
          </a:blip>
          <a:srcRect t="9315" b="641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Rubrik 1">
            <a:extLst>
              <a:ext uri="{FF2B5EF4-FFF2-40B4-BE49-F238E27FC236}">
                <a16:creationId xmlns:a16="http://schemas.microsoft.com/office/drawing/2014/main" id="{44BCB561-98AF-78BB-4827-EE08C30FE9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5585" y="838201"/>
            <a:ext cx="8915399" cy="226278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sv-SE" sz="5000" dirty="0"/>
              <a:t>Frågeställningar</a:t>
            </a:r>
            <a:br>
              <a:rPr lang="sv-SE" sz="5000" dirty="0"/>
            </a:br>
            <a:br>
              <a:rPr lang="sv-SE" sz="5000" dirty="0"/>
            </a:br>
            <a:endParaRPr lang="sv-SE" sz="5000" dirty="0"/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BD9F5B5D-CAD6-BF72-0369-C4049068BC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57721" y="2716535"/>
            <a:ext cx="8588828" cy="3490320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sv-SE" sz="2000" dirty="0"/>
              <a:t>Vilka produktkategorier verkar driva högst försäljning?</a:t>
            </a:r>
          </a:p>
          <a:p>
            <a:r>
              <a:rPr lang="sv-SE" sz="20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sv-SE" sz="2000" dirty="0"/>
              <a:t>Finns det samband mellan rabatt och ordervärde?   </a:t>
            </a:r>
          </a:p>
          <a:p>
            <a:endParaRPr lang="sv-SE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sv-SE" sz="2000" dirty="0"/>
              <a:t>Är det lönsamt att ge rabatt?</a:t>
            </a:r>
          </a:p>
        </p:txBody>
      </p:sp>
    </p:spTree>
    <p:extLst>
      <p:ext uri="{BB962C8B-B14F-4D97-AF65-F5344CB8AC3E}">
        <p14:creationId xmlns:p14="http://schemas.microsoft.com/office/powerpoint/2010/main" val="1385596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4BA00E-48BF-CD92-A45E-D34F79A0C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3">
            <a:extLst>
              <a:ext uri="{FF2B5EF4-FFF2-40B4-BE49-F238E27FC236}">
                <a16:creationId xmlns:a16="http://schemas.microsoft.com/office/drawing/2014/main" id="{827BA3A7-6286-9DF8-3E6D-8E4C52AE3B6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40000"/>
          </a:blip>
          <a:srcRect t="9315" b="641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Rubrik 1">
            <a:extLst>
              <a:ext uri="{FF2B5EF4-FFF2-40B4-BE49-F238E27FC236}">
                <a16:creationId xmlns:a16="http://schemas.microsoft.com/office/drawing/2014/main" id="{60EF028B-BB0B-BD69-2938-77558AAB85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128" y="949230"/>
            <a:ext cx="8915399" cy="2262781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sv-SE" sz="5000" dirty="0"/>
              <a:t>Datastädning och </a:t>
            </a:r>
            <a:br>
              <a:rPr lang="sv-SE" sz="5000" dirty="0"/>
            </a:br>
            <a:r>
              <a:rPr lang="sv-SE" sz="5000" dirty="0"/>
              <a:t>förberedelse</a:t>
            </a:r>
            <a:br>
              <a:rPr lang="sv-SE" sz="5000" dirty="0"/>
            </a:br>
            <a:br>
              <a:rPr lang="sv-SE" sz="5000" dirty="0"/>
            </a:br>
            <a:endParaRPr lang="sv-SE" sz="5000" dirty="0"/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2849A7F5-11C3-E170-ADD5-357432C829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17473" y="2602544"/>
            <a:ext cx="9269089" cy="3724363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sv-SE" dirty="0"/>
              <a:t>Städade upp inkonsekvens bland kategorivärden </a:t>
            </a:r>
          </a:p>
          <a:p>
            <a:r>
              <a:rPr lang="sv-SE" dirty="0"/>
              <a:t>och sammanfogade kategorier som tillhör samma grupp</a:t>
            </a:r>
          </a:p>
          <a:p>
            <a:endParaRPr lang="sv-SE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sv-SE" dirty="0"/>
              <a:t>Saknade värden i </a:t>
            </a:r>
            <a:r>
              <a:rPr lang="sv-SE" dirty="0" err="1"/>
              <a:t>discount_pct</a:t>
            </a:r>
            <a:r>
              <a:rPr lang="sv-SE" dirty="0"/>
              <a:t> (27 </a:t>
            </a:r>
            <a:r>
              <a:rPr lang="sv-SE" dirty="0" err="1"/>
              <a:t>st</a:t>
            </a:r>
            <a:r>
              <a:rPr lang="sv-SE" dirty="0"/>
              <a:t>) tas bort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sv-SE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sv-SE" dirty="0"/>
              <a:t>Feature </a:t>
            </a:r>
            <a:r>
              <a:rPr lang="sv-SE" dirty="0" err="1"/>
              <a:t>engineering</a:t>
            </a:r>
            <a:r>
              <a:rPr lang="sv-SE" dirty="0"/>
              <a:t> - nya variabler: </a:t>
            </a:r>
          </a:p>
          <a:p>
            <a:r>
              <a:rPr lang="sv-SE" dirty="0"/>
              <a:t>	</a:t>
            </a:r>
            <a:r>
              <a:rPr lang="sv-SE" dirty="0" err="1"/>
              <a:t>Sales</a:t>
            </a:r>
            <a:r>
              <a:rPr lang="sv-SE" dirty="0"/>
              <a:t> </a:t>
            </a:r>
            <a:r>
              <a:rPr lang="sv-SE" dirty="0" err="1"/>
              <a:t>amout</a:t>
            </a:r>
            <a:endParaRPr lang="sv-SE" dirty="0"/>
          </a:p>
          <a:p>
            <a:r>
              <a:rPr lang="sv-SE" dirty="0"/>
              <a:t>	</a:t>
            </a:r>
            <a:r>
              <a:rPr lang="sv-SE" dirty="0" err="1"/>
              <a:t>Discounted_price</a:t>
            </a:r>
            <a:endParaRPr lang="sv-SE" dirty="0"/>
          </a:p>
          <a:p>
            <a:r>
              <a:rPr lang="sv-SE" dirty="0"/>
              <a:t>	</a:t>
            </a:r>
            <a:r>
              <a:rPr lang="sv-SE" dirty="0" err="1"/>
              <a:t>Discount_amount</a:t>
            </a:r>
            <a:endParaRPr lang="sv-SE" dirty="0"/>
          </a:p>
          <a:p>
            <a:r>
              <a:rPr lang="sv-SE" dirty="0"/>
              <a:t>	</a:t>
            </a:r>
            <a:r>
              <a:rPr lang="sv-SE" dirty="0" err="1"/>
              <a:t>Total_after_discount</a:t>
            </a:r>
            <a:endParaRPr lang="sv-SE" dirty="0"/>
          </a:p>
          <a:p>
            <a:endParaRPr lang="sv-SE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sv-SE" dirty="0"/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1885C7BC-FB9A-B480-F8DF-F532839F24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2910" y="2778890"/>
            <a:ext cx="2536371" cy="43312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ruta 7">
                <a:extLst>
                  <a:ext uri="{FF2B5EF4-FFF2-40B4-BE49-F238E27FC236}">
                    <a16:creationId xmlns:a16="http://schemas.microsoft.com/office/drawing/2014/main" id="{28BC1568-1644-2380-682F-8CDFEC113E73}"/>
                  </a:ext>
                </a:extLst>
              </p:cNvPr>
              <p:cNvSpPr txBox="1"/>
              <p:nvPr/>
            </p:nvSpPr>
            <p:spPr>
              <a:xfrm>
                <a:off x="8334504" y="2669191"/>
                <a:ext cx="793850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sz="36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sv-SE" sz="3600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8" name="textruta 7">
                <a:extLst>
                  <a:ext uri="{FF2B5EF4-FFF2-40B4-BE49-F238E27FC236}">
                    <a16:creationId xmlns:a16="http://schemas.microsoft.com/office/drawing/2014/main" id="{28BC1568-1644-2380-682F-8CDFEC113E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4504" y="2669191"/>
                <a:ext cx="793850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5618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CEDB7C-A939-678E-13CB-0F4C3F5B1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3">
            <a:extLst>
              <a:ext uri="{FF2B5EF4-FFF2-40B4-BE49-F238E27FC236}">
                <a16:creationId xmlns:a16="http://schemas.microsoft.com/office/drawing/2014/main" id="{E780DAC4-DFB8-B00A-BE78-07625917DA9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40000"/>
          </a:blip>
          <a:srcRect t="9315" b="641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Rubrik 1">
            <a:extLst>
              <a:ext uri="{FF2B5EF4-FFF2-40B4-BE49-F238E27FC236}">
                <a16:creationId xmlns:a16="http://schemas.microsoft.com/office/drawing/2014/main" id="{860F5806-1A15-887D-A9CA-0EB94BB07B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9963" y="468087"/>
            <a:ext cx="4976970" cy="174171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sv-SE" sz="2800" dirty="0"/>
              <a:t>Produktkategorier &amp; försäljning</a:t>
            </a:r>
            <a:br>
              <a:rPr lang="sv-SE" sz="2800" dirty="0"/>
            </a:br>
            <a:br>
              <a:rPr lang="sv-SE" sz="2800" dirty="0"/>
            </a:br>
            <a:endParaRPr lang="sv-SE" sz="2800" dirty="0"/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F25AE523-CA03-CB6C-F795-6EEDA037F4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1971" y="4842693"/>
            <a:ext cx="4287725" cy="1656078"/>
          </a:xfrm>
        </p:spPr>
        <p:txBody>
          <a:bodyPr>
            <a:normAutofit/>
          </a:bodyPr>
          <a:lstStyle/>
          <a:p>
            <a:r>
              <a:rPr lang="sv-SE" sz="1600" dirty="0"/>
              <a:t>Figuren visar att </a:t>
            </a:r>
            <a:r>
              <a:rPr lang="sv-SE" sz="1600" i="1" dirty="0"/>
              <a:t>Electronics</a:t>
            </a:r>
            <a:r>
              <a:rPr lang="sv-SE" sz="1600" dirty="0"/>
              <a:t> tydligt sticker ut både i total försäljning och genomsnittligt ordervärde, vilket gör den till en central intäktskälla.</a:t>
            </a:r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AA563198-EAD0-84C6-825B-2F6CFDB563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964" y="1556657"/>
            <a:ext cx="5049733" cy="3156083"/>
          </a:xfrm>
          <a:prstGeom prst="rect">
            <a:avLst/>
          </a:prstGeom>
        </p:spPr>
      </p:pic>
      <p:pic>
        <p:nvPicPr>
          <p:cNvPr id="7" name="Bildobjekt 6">
            <a:extLst>
              <a:ext uri="{FF2B5EF4-FFF2-40B4-BE49-F238E27FC236}">
                <a16:creationId xmlns:a16="http://schemas.microsoft.com/office/drawing/2014/main" id="{344E4528-47DD-4EBC-386F-324A7E3087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5069" y="1556657"/>
            <a:ext cx="5049733" cy="3156083"/>
          </a:xfrm>
          <a:prstGeom prst="rect">
            <a:avLst/>
          </a:prstGeom>
        </p:spPr>
      </p:pic>
      <p:sp>
        <p:nvSpPr>
          <p:cNvPr id="10" name="textruta 9">
            <a:extLst>
              <a:ext uri="{FF2B5EF4-FFF2-40B4-BE49-F238E27FC236}">
                <a16:creationId xmlns:a16="http://schemas.microsoft.com/office/drawing/2014/main" id="{E4B3A3A5-7C32-057D-376E-CA19B4E9FF41}"/>
              </a:ext>
            </a:extLst>
          </p:cNvPr>
          <p:cNvSpPr txBox="1"/>
          <p:nvPr/>
        </p:nvSpPr>
        <p:spPr>
          <a:xfrm>
            <a:off x="6296291" y="936164"/>
            <a:ext cx="51672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v-SE" sz="2800" dirty="0">
                <a:latin typeface="+mj-lt"/>
              </a:rPr>
              <a:t>Rabatt &amp; Ordervärde</a:t>
            </a:r>
          </a:p>
        </p:txBody>
      </p:sp>
      <p:sp>
        <p:nvSpPr>
          <p:cNvPr id="11" name="textruta 10">
            <a:extLst>
              <a:ext uri="{FF2B5EF4-FFF2-40B4-BE49-F238E27FC236}">
                <a16:creationId xmlns:a16="http://schemas.microsoft.com/office/drawing/2014/main" id="{E42C397F-47A3-1DF4-E11B-87292E4D1A3D}"/>
              </a:ext>
            </a:extLst>
          </p:cNvPr>
          <p:cNvSpPr txBox="1"/>
          <p:nvPr/>
        </p:nvSpPr>
        <p:spPr>
          <a:xfrm>
            <a:off x="6963431" y="4823357"/>
            <a:ext cx="44413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v-SE" sz="1600" dirty="0"/>
              <a:t>Resultaten visar att majoriteten av </a:t>
            </a:r>
            <a:r>
              <a:rPr lang="sv-SE" sz="1600" dirty="0" err="1"/>
              <a:t>ordrarna</a:t>
            </a:r>
            <a:r>
              <a:rPr lang="sv-SE" sz="1600" dirty="0"/>
              <a:t> sker vid låga rabattnivåer och att rabatter inte ökar ordervärdet.</a:t>
            </a:r>
          </a:p>
        </p:txBody>
      </p:sp>
    </p:spTree>
    <p:extLst>
      <p:ext uri="{BB962C8B-B14F-4D97-AF65-F5344CB8AC3E}">
        <p14:creationId xmlns:p14="http://schemas.microsoft.com/office/powerpoint/2010/main" val="4049912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C632D8-D073-91D2-9A3D-BE764A792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3">
            <a:extLst>
              <a:ext uri="{FF2B5EF4-FFF2-40B4-BE49-F238E27FC236}">
                <a16:creationId xmlns:a16="http://schemas.microsoft.com/office/drawing/2014/main" id="{2FF05B50-5C60-15A4-01DE-0441D24800D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40000"/>
          </a:blip>
          <a:srcRect t="9315" b="641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Rubrik 1">
            <a:extLst>
              <a:ext uri="{FF2B5EF4-FFF2-40B4-BE49-F238E27FC236}">
                <a16:creationId xmlns:a16="http://schemas.microsoft.com/office/drawing/2014/main" id="{32C5F45B-E153-7C87-0F5A-B96B32AC80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6471" y="954339"/>
            <a:ext cx="8133215" cy="2093662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sv-SE" sz="4000" dirty="0"/>
              <a:t>Är det lönsamt att ge rabatt?</a:t>
            </a:r>
            <a:br>
              <a:rPr lang="sv-SE" sz="4000" dirty="0"/>
            </a:br>
            <a:br>
              <a:rPr lang="sv-SE" sz="5000" dirty="0"/>
            </a:br>
            <a:br>
              <a:rPr lang="sv-SE" sz="5000" dirty="0"/>
            </a:br>
            <a:endParaRPr lang="sv-SE" sz="5000" dirty="0"/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28281660-44E1-8812-A4EE-B6ADCC09FB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52657" y="1549371"/>
            <a:ext cx="4158343" cy="4245434"/>
          </a:xfrm>
        </p:spPr>
        <p:txBody>
          <a:bodyPr>
            <a:normAutofit/>
          </a:bodyPr>
          <a:lstStyle/>
          <a:p>
            <a:r>
              <a:rPr lang="sv-SE" dirty="0"/>
              <a:t>Effekten av rabatter varierar mellan kundtyper: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sv-SE" b="1" dirty="0"/>
              <a:t>Nya kunder:</a:t>
            </a:r>
            <a:r>
              <a:rPr lang="sv-SE" dirty="0"/>
              <a:t> Höga rabatter kan driva köp av dyrare produkter, men ger ingen tydlig fördel jämfört med ingen rabatt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sv-SE" b="1" dirty="0"/>
              <a:t>Återkommande kunder:</a:t>
            </a:r>
            <a:r>
              <a:rPr lang="sv-SE" dirty="0"/>
              <a:t> Högst ordervärde utan rabatt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sv-SE" b="1" dirty="0"/>
              <a:t>VIP-kunder:</a:t>
            </a:r>
            <a:r>
              <a:rPr lang="sv-SE" dirty="0"/>
              <a:t> Låg rabatt fungerar bäst</a:t>
            </a:r>
          </a:p>
          <a:p>
            <a:r>
              <a:rPr lang="sv-SE" dirty="0"/>
              <a:t>Ett särskilt viktigt resultat är att </a:t>
            </a:r>
            <a:r>
              <a:rPr lang="sv-SE" b="1" dirty="0"/>
              <a:t>höga rabatter ofta ger samma effekt som ingen rabatt alls</a:t>
            </a:r>
            <a:r>
              <a:rPr lang="sv-SE" dirty="0"/>
              <a:t>.</a:t>
            </a:r>
          </a:p>
          <a:p>
            <a:endParaRPr lang="sv-SE" dirty="0"/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52D63A68-B4D7-DC82-5F78-9B30C91AC0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801" y="1549370"/>
            <a:ext cx="6792695" cy="4245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672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28E458-6553-23BB-B513-6EF7ABEB6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3">
            <a:extLst>
              <a:ext uri="{FF2B5EF4-FFF2-40B4-BE49-F238E27FC236}">
                <a16:creationId xmlns:a16="http://schemas.microsoft.com/office/drawing/2014/main" id="{7C9B9423-B763-6771-CA17-C281CCBED93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40000"/>
          </a:blip>
          <a:srcRect t="9315" b="641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Rubrik 1">
            <a:extLst>
              <a:ext uri="{FF2B5EF4-FFF2-40B4-BE49-F238E27FC236}">
                <a16:creationId xmlns:a16="http://schemas.microsoft.com/office/drawing/2014/main" id="{6F7BD5B4-FFAE-3ADC-C7E1-8E136C2F0B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013" y="954338"/>
            <a:ext cx="8915399" cy="2262781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sv-SE" sz="5000" dirty="0"/>
              <a:t>Slutsatser och rekommendationer</a:t>
            </a:r>
            <a:br>
              <a:rPr lang="sv-SE" sz="5000" dirty="0"/>
            </a:br>
            <a:br>
              <a:rPr lang="sv-SE" sz="5000" dirty="0"/>
            </a:br>
            <a:endParaRPr lang="sv-SE" sz="5000" dirty="0"/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5C219563-ECA0-FC19-1F47-8EDB9F66B2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47257" y="2299104"/>
            <a:ext cx="9108148" cy="3744686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sv-SE" dirty="0"/>
              <a:t>Electronics driver den främsta försäljningen och bör prioriteras strategiskt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sv-SE" dirty="0"/>
              <a:t>Rabatter har begränsad effekt på både ordervärde och antal köp per kund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sv-SE" dirty="0"/>
              <a:t>Effekten av rabatter varierar mellan olika kundgrupper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sv-SE" dirty="0"/>
              <a:t>Låga rabatter kan i vissa fall fungera bättre än höga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sv-SE" dirty="0"/>
              <a:t>Höga rabatter ger ofta samma utfall som ingen rabatt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sv-SE" dirty="0"/>
              <a:t>Risk att marginaler minskar utan tydligt mervärde vid höga rabatter</a:t>
            </a:r>
          </a:p>
        </p:txBody>
      </p:sp>
    </p:spTree>
    <p:extLst>
      <p:ext uri="{BB962C8B-B14F-4D97-AF65-F5344CB8AC3E}">
        <p14:creationId xmlns:p14="http://schemas.microsoft.com/office/powerpoint/2010/main" val="1889138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6FDD95-C445-D9A3-B2DE-2C8908379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3">
            <a:extLst>
              <a:ext uri="{FF2B5EF4-FFF2-40B4-BE49-F238E27FC236}">
                <a16:creationId xmlns:a16="http://schemas.microsoft.com/office/drawing/2014/main" id="{BD88E12A-1AAF-4D99-36F7-7E55D641AB6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40000"/>
          </a:blip>
          <a:srcRect t="9315" b="641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Rubrik 1">
            <a:extLst>
              <a:ext uri="{FF2B5EF4-FFF2-40B4-BE49-F238E27FC236}">
                <a16:creationId xmlns:a16="http://schemas.microsoft.com/office/drawing/2014/main" id="{D0AFCC24-1BFD-E368-B964-39B6F368F4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7614" y="489858"/>
            <a:ext cx="8915399" cy="226278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sv-SE" sz="5000" dirty="0"/>
              <a:t>Begränsningar</a:t>
            </a:r>
            <a:br>
              <a:rPr lang="sv-SE" sz="5000" dirty="0"/>
            </a:br>
            <a:br>
              <a:rPr lang="sv-SE" sz="5000" dirty="0"/>
            </a:br>
            <a:endParaRPr lang="sv-SE" sz="5000" dirty="0"/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6AF225DC-0BFB-D0D6-F203-0134951733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47107" y="1487348"/>
            <a:ext cx="8915399" cy="2262781"/>
          </a:xfrm>
        </p:spPr>
        <p:txBody>
          <a:bodyPr>
            <a:normAutofit lnSpcReduction="10000"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sv-SE" dirty="0"/>
              <a:t>Analysen visar samband – inte orsakssamband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sv-SE" dirty="0"/>
              <a:t>Saknar data om </a:t>
            </a:r>
            <a:r>
              <a:rPr lang="sv-SE" dirty="0">
                <a:solidFill>
                  <a:schemeClr val="tx1"/>
                </a:solidFill>
              </a:rPr>
              <a:t>kostnader</a:t>
            </a:r>
            <a:r>
              <a:rPr lang="sv-SE" dirty="0"/>
              <a:t> och produktmarginaler för att faktiskt bedöma lönsamhet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sv-SE" dirty="0"/>
              <a:t>Begränsad tidsdimension → svårt att analysera långsiktiga effekter och kundlojalitet</a:t>
            </a:r>
          </a:p>
        </p:txBody>
      </p:sp>
      <p:sp>
        <p:nvSpPr>
          <p:cNvPr id="4" name="textruta 3">
            <a:extLst>
              <a:ext uri="{FF2B5EF4-FFF2-40B4-BE49-F238E27FC236}">
                <a16:creationId xmlns:a16="http://schemas.microsoft.com/office/drawing/2014/main" id="{93C2D251-DC67-053E-B953-AD04B1DECB4B}"/>
              </a:ext>
            </a:extLst>
          </p:cNvPr>
          <p:cNvSpPr txBox="1"/>
          <p:nvPr/>
        </p:nvSpPr>
        <p:spPr>
          <a:xfrm>
            <a:off x="6267790" y="3771900"/>
            <a:ext cx="48947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v-SE" sz="4400" dirty="0">
                <a:latin typeface="+mj-lt"/>
              </a:rPr>
              <a:t>Nästa steg</a:t>
            </a:r>
          </a:p>
        </p:txBody>
      </p:sp>
      <p:sp>
        <p:nvSpPr>
          <p:cNvPr id="5" name="textruta 4">
            <a:extLst>
              <a:ext uri="{FF2B5EF4-FFF2-40B4-BE49-F238E27FC236}">
                <a16:creationId xmlns:a16="http://schemas.microsoft.com/office/drawing/2014/main" id="{681EA567-C2B9-8483-697A-EB9DD1CA40A3}"/>
              </a:ext>
            </a:extLst>
          </p:cNvPr>
          <p:cNvSpPr txBox="1"/>
          <p:nvPr/>
        </p:nvSpPr>
        <p:spPr>
          <a:xfrm>
            <a:off x="6059033" y="4525012"/>
            <a:ext cx="5312229" cy="16670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sv-SE" dirty="0"/>
              <a:t>Samla in data om kostnader &amp; marginaler</a:t>
            </a:r>
          </a:p>
          <a:p>
            <a:pPr marL="285750" indent="-285750">
              <a:lnSpc>
                <a:spcPct val="200000"/>
              </a:lnSpc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sv-SE" dirty="0"/>
              <a:t>Följa </a:t>
            </a:r>
            <a:r>
              <a:rPr lang="sv-SE" dirty="0">
                <a:solidFill>
                  <a:schemeClr val="tx1">
                    <a:lumMod val="65000"/>
                    <a:lumOff val="35000"/>
                  </a:schemeClr>
                </a:solidFill>
              </a:rPr>
              <a:t>kundbeteende</a:t>
            </a:r>
            <a:r>
              <a:rPr lang="sv-SE" dirty="0"/>
              <a:t> över tid</a:t>
            </a:r>
          </a:p>
          <a:p>
            <a:pPr marL="285750" indent="-285750">
              <a:lnSpc>
                <a:spcPct val="200000"/>
              </a:lnSpc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sv-SE" dirty="0"/>
              <a:t>Undersöka rabatter för olika kundgrupper</a:t>
            </a:r>
          </a:p>
        </p:txBody>
      </p:sp>
    </p:spTree>
    <p:extLst>
      <p:ext uri="{BB962C8B-B14F-4D97-AF65-F5344CB8AC3E}">
        <p14:creationId xmlns:p14="http://schemas.microsoft.com/office/powerpoint/2010/main" val="1541878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theme/theme1.xml><?xml version="1.0" encoding="utf-8"?>
<a:theme xmlns:a="http://schemas.openxmlformats.org/drawingml/2006/main" name="Slinga">
  <a:themeElements>
    <a:clrScheme name="Blågrö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Slinga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nga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F20B7C8E-B819-43F3-AAF9-EE50B1A836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216</TotalTime>
  <Words>387</Words>
  <Application>Microsoft Office PowerPoint</Application>
  <PresentationFormat>Bredbild</PresentationFormat>
  <Paragraphs>57</Paragraphs>
  <Slides>8</Slides>
  <Notes>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5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8</vt:i4>
      </vt:variant>
    </vt:vector>
  </HeadingPairs>
  <TitlesOfParts>
    <vt:vector size="14" baseType="lpstr">
      <vt:lpstr>Arial</vt:lpstr>
      <vt:lpstr>Cambria Math</vt:lpstr>
      <vt:lpstr>Century Gothic</vt:lpstr>
      <vt:lpstr>Wingdings</vt:lpstr>
      <vt:lpstr>Wingdings 3</vt:lpstr>
      <vt:lpstr>Slinga</vt:lpstr>
      <vt:lpstr>Case:  Analysteam, E-handelsföretag  </vt:lpstr>
      <vt:lpstr>Datasetet:  ecommerce_orders  </vt:lpstr>
      <vt:lpstr>Frågeställningar  </vt:lpstr>
      <vt:lpstr>Datastädning och  förberedelse  </vt:lpstr>
      <vt:lpstr>Produktkategorier &amp; försäljning  </vt:lpstr>
      <vt:lpstr>Är det lönsamt att ge rabatt?   </vt:lpstr>
      <vt:lpstr>Slutsatser och rekommendationer  </vt:lpstr>
      <vt:lpstr>Begränsningar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Magdalena Persson</dc:creator>
  <cp:lastModifiedBy>Magdalena Persson</cp:lastModifiedBy>
  <cp:revision>1</cp:revision>
  <dcterms:created xsi:type="dcterms:W3CDTF">2026-04-20T08:15:22Z</dcterms:created>
  <dcterms:modified xsi:type="dcterms:W3CDTF">2026-04-20T11:52:08Z</dcterms:modified>
</cp:coreProperties>
</file>